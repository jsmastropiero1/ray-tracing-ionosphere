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9" r:id="rId4"/>
    <p:sldId id="265" r:id="rId5"/>
    <p:sldId id="260" r:id="rId6"/>
    <p:sldId id="261" r:id="rId7"/>
    <p:sldId id="266" r:id="rId8"/>
    <p:sldId id="270" r:id="rId9"/>
    <p:sldId id="262" r:id="rId10"/>
    <p:sldId id="271" r:id="rId11"/>
    <p:sldId id="272" r:id="rId12"/>
    <p:sldId id="263" r:id="rId13"/>
    <p:sldId id="269" r:id="rId14"/>
    <p:sldId id="264" r:id="rId15"/>
    <p:sldId id="273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501818-AB6A-4D25-975D-DDF113B9C96D}" v="126" dt="2022-02-22T17:21:41.673"/>
    <p1510:client id="{F019FBE6-D484-862B-1FCD-F6757B87C56A}" v="8" dt="2022-02-22T17:47:49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viewProps" Target="viewProps.xml" Id="rId18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presProps" Target="presProps.xml" Id="rId17" /><Relationship Type="http://schemas.openxmlformats.org/officeDocument/2006/relationships/slide" Target="slides/slide1.xml" Id="rId2" /><Relationship Type="http://schemas.openxmlformats.org/officeDocument/2006/relationships/slide" Target="slides/slide15.xml" Id="rId16" /><Relationship Type="http://schemas.openxmlformats.org/officeDocument/2006/relationships/tableStyles" Target="tableStyles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slide" Target="slides/slide4.xml" Id="rId5" /><Relationship Type="http://schemas.openxmlformats.org/officeDocument/2006/relationships/slide" Target="slides/slide14.xml" Id="rId15" /><Relationship Type="http://schemas.openxmlformats.org/officeDocument/2006/relationships/slide" Target="slides/slide9.xml" Id="rId10" /><Relationship Type="http://schemas.openxmlformats.org/officeDocument/2006/relationships/theme" Target="theme/theme1.xml" Id="rId19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microsoft.com/office/2015/10/relationships/revisionInfo" Target="revisionInfo.xml" Id="rId22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D76CC-E9D5-485E-BC63-F904B3FCF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07D610-7B41-4ED8-B4FF-8C69E1F88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426BD8-4C70-4BC0-8222-71F36199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2CC9FB-CBE3-44CA-9BA8-21395570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5BEF74-FD35-4E81-94FB-0D186283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586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22108-1845-48DD-889B-A0582A24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FA89FF-C57E-4CAE-BB18-A9193F17C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FFD664-407C-4ABE-B8B7-B07C9F9D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0A3E71-1663-432B-8046-154E62777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E7070-E4F2-4781-99F4-1B0DED28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984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2B150-FA39-4B36-A01B-0CE5A6285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07F849-973C-46D2-B72A-4A2BE7618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26BD0B-2605-4095-A71F-44376159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DEED6-A6CA-41DC-A074-CECC1636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C6D22B-2064-4E43-9389-5E255565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755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0B5B-0421-4D9C-8320-AB2CBA8A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9579A4-1EDE-4A23-AFDA-521E8E213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F17B45-D0C7-429B-B077-83F3AE91A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6CCD37-DB5B-43A6-81DF-BC4321E4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2F07B4-A50B-4E17-A0D7-4FF810CB4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DD7FDD-69BF-4E9C-90B1-70BAE300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6129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BB68C-989C-4253-A148-23C13209A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5AF9B6-D467-46B1-A831-C23229612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16B58C-3C9E-4B58-B8E8-63C5189B5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005177-DB85-499F-B5D9-B262BF966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43E7BB-0E0F-4020-87BD-D09C4F532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21DC8C5-10B9-4183-920A-92B382B5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798BBF-5256-4A77-B7EF-4869A6C3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235928-AD5A-4A05-A740-01460021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7978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B64A2-6C58-4333-B1A0-D54274747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6578E8-9635-4CD1-9402-D703F748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96AC50-FDE5-4ED3-8E32-9854E4D3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9747D6D-8238-4327-9755-FBF76B3F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676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69175A8-ED53-4C15-A7DD-E5D5B656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7D42D5-8961-4876-8B92-0167668F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9305FC-9680-47F7-85B3-62556D36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524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F16C1-13E5-4B17-8D2E-82A07BF4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17252E-72EB-42C4-95C2-03F22B16F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952613-C0AA-423F-B286-BDF1FF6EC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F8E56A-B5F9-4234-A3A0-1B8E9973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BB6C2C-9A06-4AF4-8F15-B5507385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01D2AF-58B3-404E-8057-B49A142F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6474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67BDA-838B-478B-899E-7477467D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2B9A61-43B5-48BD-91EE-6EDDDB15A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7CCF42-E5A8-4F18-B1BE-2CF27CA02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DDAA82-7D31-40EC-82D2-417C98F5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2EBBB0-B31D-47CA-9971-12DA4CA8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3D546B-A7C3-475A-8C1F-E3988E42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250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83464-59A3-465F-A318-F5B0413D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35D707-4A48-4912-B12B-93FC38A15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601F45-EFFD-4077-99EB-E29C1C0BA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EE9DF-02DC-4EED-B136-FE577F84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00A8D5-A712-49DB-9878-C4200693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792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DD60C0-123A-4A0B-B08B-0E57EBB8C8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46005F-11E4-4365-B7E1-024FECB96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89BB97-DEB3-40F8-973E-836FD2C3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9D72DC-3455-48D7-B1AD-449B477C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69F329-7855-409B-BDD1-EB32128A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0233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B583B9-7149-4EAB-BA69-F861A03B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289A61-C261-42D7-A29D-15474CD91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90A240-7F8E-4D16-9F02-984EAFAB4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34D7A-186C-42C3-8A4B-9FD2C6D29CAF}" type="datetimeFigureOut">
              <a:rPr lang="es-ES" smtClean="0"/>
              <a:t>22/02/2022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8157D9-BBEF-4498-A426-89980B184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980032-9B8F-4CAE-9DE6-810D9BA30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7E609-327C-4794-AEAB-10560A27A5C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916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3F4695C0-BF44-4731-B8A5-AD04EBAD3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58"/>
            <a:ext cx="12192000" cy="686291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B7462CE-0785-494E-BA64-8BF07A05C4CE}"/>
              </a:ext>
            </a:extLst>
          </p:cNvPr>
          <p:cNvSpPr txBox="1"/>
          <p:nvPr/>
        </p:nvSpPr>
        <p:spPr>
          <a:xfrm>
            <a:off x="5674659" y="6150114"/>
            <a:ext cx="6902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highlight>
                  <a:srgbClr val="000000"/>
                </a:highlight>
                <a:latin typeface="Bahnschrift SemiBold Condensed" panose="020B0502040204020203" pitchFamily="34" charset="0"/>
              </a:rPr>
              <a:t>COMPUTING AND NUMERICAL METHODS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6B75E1C-0EFF-404E-A4DF-0D03324C84EC}"/>
              </a:ext>
            </a:extLst>
          </p:cNvPr>
          <p:cNvSpPr txBox="1"/>
          <p:nvPr/>
        </p:nvSpPr>
        <p:spPr>
          <a:xfrm>
            <a:off x="89647" y="4098213"/>
            <a:ext cx="3648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Alex Cobo Zarzuelo</a:t>
            </a:r>
          </a:p>
          <a:p>
            <a:r>
              <a:rPr lang="es-ES" sz="28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Andrés Leiva </a:t>
            </a:r>
            <a:r>
              <a:rPr lang="en-GB" sz="28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Genre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C397C6A-2D7F-49E1-ACE3-6F3264186700}"/>
              </a:ext>
            </a:extLst>
          </p:cNvPr>
          <p:cNvSpPr txBox="1"/>
          <p:nvPr/>
        </p:nvSpPr>
        <p:spPr>
          <a:xfrm>
            <a:off x="502023" y="519283"/>
            <a:ext cx="114927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A simple </a:t>
            </a:r>
            <a:r>
              <a:rPr lang="es-ES" sz="8000" b="1" dirty="0" err="1">
                <a:solidFill>
                  <a:schemeClr val="bg1"/>
                </a:solidFill>
                <a:latin typeface="Bahnschrift SemiBold Condensed" panose="020B0502040204020203" pitchFamily="34" charset="0"/>
              </a:rPr>
              <a:t>model</a:t>
            </a:r>
            <a:r>
              <a:rPr lang="es-ES" sz="8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 and </a:t>
            </a:r>
            <a:r>
              <a:rPr lang="es-ES" sz="8000" b="1" dirty="0" err="1">
                <a:solidFill>
                  <a:schemeClr val="bg1"/>
                </a:solidFill>
                <a:latin typeface="Bahnschrift SemiBold Condensed" panose="020B0502040204020203" pitchFamily="34" charset="0"/>
              </a:rPr>
              <a:t>applications</a:t>
            </a:r>
            <a:r>
              <a:rPr lang="es-ES" sz="8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 </a:t>
            </a:r>
            <a:r>
              <a:rPr lang="es-ES" sz="8000" b="1" dirty="0" err="1">
                <a:solidFill>
                  <a:schemeClr val="bg1"/>
                </a:solidFill>
                <a:latin typeface="Bahnschrift SemiBold Condensed" panose="020B0502040204020203" pitchFamily="34" charset="0"/>
              </a:rPr>
              <a:t>of</a:t>
            </a:r>
            <a:r>
              <a:rPr lang="es-ES" sz="8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 </a:t>
            </a:r>
            <a:r>
              <a:rPr lang="es-ES" sz="8000" b="1" dirty="0" err="1">
                <a:solidFill>
                  <a:schemeClr val="bg1"/>
                </a:solidFill>
                <a:latin typeface="Bahnschrift SemiBold Condensed" panose="020B0502040204020203" pitchFamily="34" charset="0"/>
              </a:rPr>
              <a:t>ray</a:t>
            </a:r>
            <a:r>
              <a:rPr lang="es-ES" sz="8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 </a:t>
            </a:r>
            <a:r>
              <a:rPr lang="es-ES" sz="8000" b="1" dirty="0" err="1">
                <a:solidFill>
                  <a:schemeClr val="bg1"/>
                </a:solidFill>
                <a:latin typeface="Bahnschrift SemiBold Condensed" panose="020B0502040204020203" pitchFamily="34" charset="0"/>
              </a:rPr>
              <a:t>tracing</a:t>
            </a:r>
            <a:r>
              <a:rPr lang="es-ES" sz="8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 </a:t>
            </a:r>
            <a:r>
              <a:rPr lang="es-ES" sz="8000" b="1" dirty="0" err="1">
                <a:solidFill>
                  <a:schemeClr val="bg1"/>
                </a:solidFill>
                <a:latin typeface="Bahnschrift SemiBold Condensed" panose="020B0502040204020203" pitchFamily="34" charset="0"/>
              </a:rPr>
              <a:t>through</a:t>
            </a:r>
            <a:r>
              <a:rPr lang="es-ES" sz="8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 plasma</a:t>
            </a:r>
          </a:p>
        </p:txBody>
      </p:sp>
    </p:spTree>
    <p:extLst>
      <p:ext uri="{BB962C8B-B14F-4D97-AF65-F5344CB8AC3E}">
        <p14:creationId xmlns:p14="http://schemas.microsoft.com/office/powerpoint/2010/main" val="195499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349A3A1-5B67-4C19-8A7C-A797565CD7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" r="5479" b="6481"/>
          <a:stretch/>
        </p:blipFill>
        <p:spPr>
          <a:xfrm>
            <a:off x="5881735" y="121023"/>
            <a:ext cx="6310265" cy="661595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4778B9B-DF4F-4E25-A46B-357DD7210C13}"/>
              </a:ext>
            </a:extLst>
          </p:cNvPr>
          <p:cNvSpPr txBox="1"/>
          <p:nvPr/>
        </p:nvSpPr>
        <p:spPr>
          <a:xfrm>
            <a:off x="2357717" y="304800"/>
            <a:ext cx="74765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/>
              <a:t>INDEX</a:t>
            </a:r>
            <a:endParaRPr lang="es-ES" sz="48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6975A8-1B22-4E44-87CF-C8B84A4A52A5}"/>
              </a:ext>
            </a:extLst>
          </p:cNvPr>
          <p:cNvSpPr txBox="1"/>
          <p:nvPr/>
        </p:nvSpPr>
        <p:spPr>
          <a:xfrm>
            <a:off x="305689" y="1850785"/>
            <a:ext cx="681228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4400" dirty="0" err="1"/>
              <a:t>Introduction</a:t>
            </a:r>
            <a:endParaRPr lang="es-ES" sz="4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4400" dirty="0" err="1"/>
              <a:t>Theoretical</a:t>
            </a:r>
            <a:r>
              <a:rPr lang="es-ES" sz="4400" dirty="0"/>
              <a:t> </a:t>
            </a:r>
            <a:r>
              <a:rPr lang="es-ES" sz="4400" dirty="0" err="1"/>
              <a:t>framework</a:t>
            </a:r>
            <a:endParaRPr lang="es-ES" sz="4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4400" dirty="0" err="1"/>
              <a:t>Code</a:t>
            </a:r>
            <a:r>
              <a:rPr lang="es-ES" sz="4400" dirty="0"/>
              <a:t> &amp; </a:t>
            </a:r>
            <a:r>
              <a:rPr lang="es-ES" sz="4400" dirty="0" err="1"/>
              <a:t>Implementation</a:t>
            </a:r>
            <a:endParaRPr lang="es-ES" sz="4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4400" dirty="0" err="1"/>
              <a:t>Process</a:t>
            </a:r>
            <a:endParaRPr lang="es-ES" sz="4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4400" dirty="0" err="1"/>
              <a:t>Applications</a:t>
            </a:r>
            <a:endParaRPr lang="es-ES" sz="4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4400" dirty="0" err="1"/>
              <a:t>Conclusions</a:t>
            </a:r>
            <a:r>
              <a:rPr lang="es-ES" sz="4400" dirty="0"/>
              <a:t> &amp; Future </a:t>
            </a:r>
            <a:r>
              <a:rPr lang="es-ES" sz="4400" dirty="0" err="1"/>
              <a:t>work</a:t>
            </a:r>
            <a:endParaRPr lang="es-ES" sz="4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216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832"/>
            <a:ext cx="10515600" cy="1338449"/>
          </a:xfrm>
        </p:spPr>
        <p:txBody>
          <a:bodyPr/>
          <a:lstStyle/>
          <a:p>
            <a:pPr algn="ctr"/>
            <a:r>
              <a:rPr lang="es-ES" sz="6000" b="1" dirty="0">
                <a:latin typeface="+mn-lt"/>
              </a:rPr>
              <a:t>INTRODUCTION</a:t>
            </a:r>
            <a:endParaRPr lang="es-ES" b="1" dirty="0">
              <a:latin typeface="+mn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B10DB10-196D-4288-B957-FB202D826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160" y="1294184"/>
            <a:ext cx="3304614" cy="280350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F4ED582-DD81-457E-9F08-1208D5F0F73D}"/>
              </a:ext>
            </a:extLst>
          </p:cNvPr>
          <p:cNvSpPr txBox="1"/>
          <p:nvPr/>
        </p:nvSpPr>
        <p:spPr>
          <a:xfrm>
            <a:off x="466763" y="4711513"/>
            <a:ext cx="66332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u="sng" dirty="0"/>
              <a:t>Long </a:t>
            </a:r>
            <a:r>
              <a:rPr lang="en-GB" sz="4400" u="sng" dirty="0"/>
              <a:t>distance</a:t>
            </a:r>
            <a:r>
              <a:rPr lang="es-ES" sz="4400" u="sng" dirty="0"/>
              <a:t> </a:t>
            </a:r>
            <a:r>
              <a:rPr lang="en-GB" sz="4400" u="sng" dirty="0"/>
              <a:t>communication</a:t>
            </a:r>
            <a:r>
              <a:rPr lang="es-ES" sz="4400" u="sng" dirty="0"/>
              <a:t>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23ECE1E-48FA-4414-8B7B-DC39BCB11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378" y="4097688"/>
            <a:ext cx="4345920" cy="248756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A2D5DE1-C800-4A71-A2AD-50A6C6EE66C6}"/>
              </a:ext>
            </a:extLst>
          </p:cNvPr>
          <p:cNvSpPr txBox="1"/>
          <p:nvPr/>
        </p:nvSpPr>
        <p:spPr>
          <a:xfrm>
            <a:off x="5541309" y="1504855"/>
            <a:ext cx="49115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u="sng" dirty="0"/>
              <a:t>Radio </a:t>
            </a:r>
            <a:r>
              <a:rPr lang="es-ES" sz="4400" u="sng" dirty="0" err="1"/>
              <a:t>waves</a:t>
            </a:r>
            <a:r>
              <a:rPr lang="es-ES" sz="4400" u="sng" dirty="0"/>
              <a:t> </a:t>
            </a:r>
            <a:r>
              <a:rPr lang="es-ES" sz="4400" u="sng" dirty="0" err="1"/>
              <a:t>propagation</a:t>
            </a:r>
            <a:r>
              <a:rPr lang="es-ES" sz="4400" u="sng" dirty="0"/>
              <a:t> </a:t>
            </a:r>
            <a:r>
              <a:rPr lang="es-ES" sz="4400" u="sng" dirty="0" err="1"/>
              <a:t>around</a:t>
            </a:r>
            <a:r>
              <a:rPr lang="es-ES" sz="4400" u="sng" dirty="0"/>
              <a:t> </a:t>
            </a:r>
            <a:r>
              <a:rPr lang="es-ES" sz="4400" u="sng" dirty="0" err="1"/>
              <a:t>the</a:t>
            </a:r>
            <a:r>
              <a:rPr lang="es-ES" sz="4400" u="sng" dirty="0"/>
              <a:t> </a:t>
            </a:r>
            <a:r>
              <a:rPr lang="es-ES" sz="4400" u="sng" dirty="0" err="1"/>
              <a:t>Earth</a:t>
            </a:r>
            <a:endParaRPr lang="es-ES" sz="4400" u="sng" dirty="0"/>
          </a:p>
        </p:txBody>
      </p:sp>
    </p:spTree>
    <p:extLst>
      <p:ext uri="{BB962C8B-B14F-4D97-AF65-F5344CB8AC3E}">
        <p14:creationId xmlns:p14="http://schemas.microsoft.com/office/powerpoint/2010/main" val="3309174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6000" b="1" dirty="0">
                <a:latin typeface="+mn-lt"/>
              </a:rPr>
              <a:t>THEORETICAL FRAMEWORK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265B43-992A-4C31-B399-DCC785EC4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159"/>
            <a:ext cx="4985937" cy="445999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4D8CEFA-8675-470B-A232-D307565B5E98}"/>
              </a:ext>
            </a:extLst>
          </p:cNvPr>
          <p:cNvSpPr txBox="1"/>
          <p:nvPr/>
        </p:nvSpPr>
        <p:spPr>
          <a:xfrm>
            <a:off x="6548716" y="1664446"/>
            <a:ext cx="4536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/>
              <a:t>Plasma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DC8E96-96C2-465B-B842-FEC817938E50}"/>
              </a:ext>
            </a:extLst>
          </p:cNvPr>
          <p:cNvSpPr txBox="1"/>
          <p:nvPr/>
        </p:nvSpPr>
        <p:spPr>
          <a:xfrm>
            <a:off x="6548716" y="3246228"/>
            <a:ext cx="4536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/>
              <a:t>Free </a:t>
            </a:r>
            <a:r>
              <a:rPr lang="es-ES" sz="4000" dirty="0" err="1"/>
              <a:t>electrons</a:t>
            </a:r>
            <a:endParaRPr lang="es-ES" sz="40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1EBD055-6EB0-4AF1-B900-93E3816D3F05}"/>
              </a:ext>
            </a:extLst>
          </p:cNvPr>
          <p:cNvCxnSpPr/>
          <p:nvPr/>
        </p:nvCxnSpPr>
        <p:spPr>
          <a:xfrm>
            <a:off x="8803339" y="4055156"/>
            <a:ext cx="0" cy="770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85C38718-BA28-4613-94DB-0370FE2485E3}"/>
                  </a:ext>
                </a:extLst>
              </p:cNvPr>
              <p:cNvSpPr txBox="1"/>
              <p:nvPr/>
            </p:nvSpPr>
            <p:spPr>
              <a:xfrm>
                <a:off x="7598360" y="4927163"/>
                <a:ext cx="2409958" cy="12730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800" b="0" i="1" smtClean="0">
                                      <a:latin typeface="Cambria Math" panose="02040503050406030204" pitchFamily="18" charset="0"/>
                                    </a:rPr>
                                    <m:t>ε</m:t>
                                  </m:r>
                                </m:e>
                                <m:sub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85C38718-BA28-4613-94DB-0370FE248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360" y="4927163"/>
                <a:ext cx="2409958" cy="12730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BF17233-B1E9-4164-9642-C2B13DFE06A4}"/>
              </a:ext>
            </a:extLst>
          </p:cNvPr>
          <p:cNvCxnSpPr/>
          <p:nvPr/>
        </p:nvCxnSpPr>
        <p:spPr>
          <a:xfrm>
            <a:off x="8816787" y="2496834"/>
            <a:ext cx="0" cy="770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33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>
                <a:latin typeface="+mn-lt"/>
              </a:rPr>
              <a:t>THEORETICAL FRAMEWORK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3BBEA1-629D-4472-AB9C-F8B1076A0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298564"/>
            <a:ext cx="5781675" cy="37719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160D9DA-D727-41ED-AC24-EEC12AE08A97}"/>
              </a:ext>
            </a:extLst>
          </p:cNvPr>
          <p:cNvSpPr txBox="1"/>
          <p:nvPr/>
        </p:nvSpPr>
        <p:spPr>
          <a:xfrm>
            <a:off x="-111779" y="5780123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u="sng" dirty="0"/>
              <a:t>Snell </a:t>
            </a:r>
            <a:r>
              <a:rPr lang="es-ES" sz="4000" u="sng" dirty="0" err="1"/>
              <a:t>law</a:t>
            </a:r>
            <a:r>
              <a:rPr lang="es-ES" sz="4000" u="sng" dirty="0"/>
              <a:t>: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0B81644-1570-4373-9291-C30055C14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424" y="5899104"/>
            <a:ext cx="3486329" cy="46992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B4B1550-0E2A-4090-AF77-8A121FEA94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560" y="1973361"/>
            <a:ext cx="2544607" cy="132556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12B4CB5-8F9F-448A-9B1C-527265BCE17C}"/>
              </a:ext>
            </a:extLst>
          </p:cNvPr>
          <p:cNvSpPr txBox="1"/>
          <p:nvPr/>
        </p:nvSpPr>
        <p:spPr>
          <a:xfrm>
            <a:off x="8023971" y="4988165"/>
            <a:ext cx="34155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u="sng" dirty="0"/>
              <a:t>Time </a:t>
            </a:r>
            <a:r>
              <a:rPr lang="es-ES" sz="4000" u="sng" dirty="0" err="1"/>
              <a:t>reversal</a:t>
            </a:r>
            <a:r>
              <a:rPr lang="es-ES" sz="4000" u="sng" dirty="0"/>
              <a:t> </a:t>
            </a:r>
            <a:r>
              <a:rPr lang="es-ES" sz="4000" u="sng" dirty="0" err="1"/>
              <a:t>property</a:t>
            </a:r>
            <a:endParaRPr lang="es-ES" sz="4000" u="sng" dirty="0"/>
          </a:p>
        </p:txBody>
      </p:sp>
      <p:sp>
        <p:nvSpPr>
          <p:cNvPr id="13" name="Signo más 12">
            <a:extLst>
              <a:ext uri="{FF2B5EF4-FFF2-40B4-BE49-F238E27FC236}">
                <a16:creationId xmlns:a16="http://schemas.microsoft.com/office/drawing/2014/main" id="{64CC724E-DD51-449A-BC5A-A95CA3487029}"/>
              </a:ext>
            </a:extLst>
          </p:cNvPr>
          <p:cNvSpPr/>
          <p:nvPr/>
        </p:nvSpPr>
        <p:spPr>
          <a:xfrm>
            <a:off x="9162487" y="3572771"/>
            <a:ext cx="1138518" cy="1018744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7101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2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>
                <a:latin typeface="+mn-lt"/>
              </a:rPr>
              <a:t>CODE &amp; IMPLEMENTATION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4D05CA-C6C9-4A66-AE60-15C90104D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90" y="972875"/>
            <a:ext cx="3859306" cy="278352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B8E53DD-FBAC-43AE-A0D7-4A009A33E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312" y="3429000"/>
            <a:ext cx="3888236" cy="296283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906A07F-6CED-4C04-8EE2-D9C3E872A6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279" y="1147483"/>
            <a:ext cx="4021155" cy="3335244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49155626-9FA5-456C-9811-32ED6452E0F9}"/>
              </a:ext>
            </a:extLst>
          </p:cNvPr>
          <p:cNvSpPr/>
          <p:nvPr/>
        </p:nvSpPr>
        <p:spPr>
          <a:xfrm>
            <a:off x="268941" y="4285129"/>
            <a:ext cx="569259" cy="5737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5E223F1-2C50-4728-90EA-1D9FF9D8C870}"/>
              </a:ext>
            </a:extLst>
          </p:cNvPr>
          <p:cNvSpPr txBox="1"/>
          <p:nvPr/>
        </p:nvSpPr>
        <p:spPr>
          <a:xfrm>
            <a:off x="838200" y="4376204"/>
            <a:ext cx="2227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err="1"/>
              <a:t>Geometry</a:t>
            </a:r>
            <a:endParaRPr lang="es-ES" sz="2400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C45CA6B-929F-4F0F-8DCC-D0EDFA76B5B9}"/>
              </a:ext>
            </a:extLst>
          </p:cNvPr>
          <p:cNvSpPr/>
          <p:nvPr/>
        </p:nvSpPr>
        <p:spPr>
          <a:xfrm>
            <a:off x="4562793" y="2149993"/>
            <a:ext cx="569259" cy="5737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&amp;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B548E11-4D31-41EE-871A-85E459089ECC}"/>
              </a:ext>
            </a:extLst>
          </p:cNvPr>
          <p:cNvSpPr txBox="1"/>
          <p:nvPr/>
        </p:nvSpPr>
        <p:spPr>
          <a:xfrm>
            <a:off x="5132052" y="2241068"/>
            <a:ext cx="2227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err="1"/>
              <a:t>Grid</a:t>
            </a:r>
            <a:endParaRPr lang="es-ES" sz="240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0E0B52ED-2B6D-49A7-9010-1557DF1FFCF8}"/>
              </a:ext>
            </a:extLst>
          </p:cNvPr>
          <p:cNvSpPr/>
          <p:nvPr/>
        </p:nvSpPr>
        <p:spPr>
          <a:xfrm>
            <a:off x="8731624" y="4746794"/>
            <a:ext cx="569259" cy="5737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A79337F-FD0C-46D2-B3C1-929F8EBE1FA6}"/>
              </a:ext>
            </a:extLst>
          </p:cNvPr>
          <p:cNvSpPr txBox="1"/>
          <p:nvPr/>
        </p:nvSpPr>
        <p:spPr>
          <a:xfrm>
            <a:off x="9300883" y="4837869"/>
            <a:ext cx="2227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err="1"/>
              <a:t>Steps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600754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16" y="558975"/>
            <a:ext cx="4764741" cy="1325563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>
                <a:latin typeface="+mn-lt"/>
              </a:rPr>
              <a:t>1) GEOMETRY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4D05CA-C6C9-4A66-AE60-15C90104D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465" y="109624"/>
            <a:ext cx="3340670" cy="240945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B8E53DD-FBAC-43AE-A0D7-4A009A33E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159" y="558975"/>
            <a:ext cx="1882588" cy="1434531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softEdge rad="317500"/>
          </a:effec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05A41CC-D39B-4155-95B7-9432C9F34BFE}"/>
              </a:ext>
            </a:extLst>
          </p:cNvPr>
          <p:cNvSpPr txBox="1"/>
          <p:nvPr/>
        </p:nvSpPr>
        <p:spPr>
          <a:xfrm>
            <a:off x="7595000" y="5661103"/>
            <a:ext cx="2561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u="sng" dirty="0"/>
              <a:t>Polar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2609DCF-D4B3-4D86-9CDC-10E50326D0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9" y="2563904"/>
            <a:ext cx="2868708" cy="2868708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E0E8DDD2-363E-40E6-A8E3-D6E21CCEDA5B}"/>
              </a:ext>
            </a:extLst>
          </p:cNvPr>
          <p:cNvSpPr txBox="1"/>
          <p:nvPr/>
        </p:nvSpPr>
        <p:spPr>
          <a:xfrm>
            <a:off x="219614" y="5661103"/>
            <a:ext cx="5163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u="sng" dirty="0"/>
              <a:t>Plane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86BC09E-EEE8-46AC-91AF-1F6C270D1506}"/>
              </a:ext>
            </a:extLst>
          </p:cNvPr>
          <p:cNvCxnSpPr>
            <a:cxnSpLocks/>
          </p:cNvCxnSpPr>
          <p:nvPr/>
        </p:nvCxnSpPr>
        <p:spPr>
          <a:xfrm flipH="1" flipV="1">
            <a:off x="1667433" y="2688032"/>
            <a:ext cx="28791" cy="2193834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D435A904-5706-40DB-8A85-16C62689CAA4}"/>
              </a:ext>
            </a:extLst>
          </p:cNvPr>
          <p:cNvCxnSpPr>
            <a:cxnSpLocks/>
          </p:cNvCxnSpPr>
          <p:nvPr/>
        </p:nvCxnSpPr>
        <p:spPr>
          <a:xfrm>
            <a:off x="1667433" y="4881866"/>
            <a:ext cx="2375649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2CD2F94-05FE-4E9E-8CC0-80F1E6C12401}"/>
              </a:ext>
            </a:extLst>
          </p:cNvPr>
          <p:cNvCxnSpPr>
            <a:cxnSpLocks/>
          </p:cNvCxnSpPr>
          <p:nvPr/>
        </p:nvCxnSpPr>
        <p:spPr>
          <a:xfrm>
            <a:off x="2581832" y="3332607"/>
            <a:ext cx="0" cy="99956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57836DC-0B96-4495-A1F2-4F8C7D6225DB}"/>
              </a:ext>
            </a:extLst>
          </p:cNvPr>
          <p:cNvSpPr txBox="1"/>
          <p:nvPr/>
        </p:nvSpPr>
        <p:spPr>
          <a:xfrm>
            <a:off x="2296740" y="2625863"/>
            <a:ext cx="627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F24EDBD-6F8C-4A63-AEFA-B640CFFB5B3C}"/>
              </a:ext>
            </a:extLst>
          </p:cNvPr>
          <p:cNvSpPr txBox="1"/>
          <p:nvPr/>
        </p:nvSpPr>
        <p:spPr>
          <a:xfrm>
            <a:off x="905438" y="2426421"/>
            <a:ext cx="761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DDD0FA4-2869-44C5-BC26-E6BF76CE606C}"/>
              </a:ext>
            </a:extLst>
          </p:cNvPr>
          <p:cNvSpPr txBox="1"/>
          <p:nvPr/>
        </p:nvSpPr>
        <p:spPr>
          <a:xfrm>
            <a:off x="4043082" y="4620256"/>
            <a:ext cx="761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x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98E1DD76-00B8-45FD-ACC6-F953F1C8C5A5}"/>
              </a:ext>
            </a:extLst>
          </p:cNvPr>
          <p:cNvCxnSpPr>
            <a:cxnSpLocks/>
          </p:cNvCxnSpPr>
          <p:nvPr/>
        </p:nvCxnSpPr>
        <p:spPr>
          <a:xfrm>
            <a:off x="6512464" y="3498780"/>
            <a:ext cx="820137" cy="19278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321E672-FC3B-41A2-BC95-A8E51BAFDC7F}"/>
              </a:ext>
            </a:extLst>
          </p:cNvPr>
          <p:cNvSpPr txBox="1"/>
          <p:nvPr/>
        </p:nvSpPr>
        <p:spPr>
          <a:xfrm>
            <a:off x="6238084" y="3595173"/>
            <a:ext cx="627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n</a:t>
            </a: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8B4B62C2-7B7A-465A-B847-1781CBC2E6A0}"/>
              </a:ext>
            </a:extLst>
          </p:cNvPr>
          <p:cNvCxnSpPr/>
          <p:nvPr/>
        </p:nvCxnSpPr>
        <p:spPr>
          <a:xfrm>
            <a:off x="1696224" y="4303059"/>
            <a:ext cx="21854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C5C7FF87-605D-4FDB-9800-978D36BBC759}"/>
              </a:ext>
            </a:extLst>
          </p:cNvPr>
          <p:cNvCxnSpPr/>
          <p:nvPr/>
        </p:nvCxnSpPr>
        <p:spPr>
          <a:xfrm>
            <a:off x="1632521" y="3191435"/>
            <a:ext cx="21854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B92D0D39-EDF2-432E-9DC4-F1A235ECDEEE}"/>
              </a:ext>
            </a:extLst>
          </p:cNvPr>
          <p:cNvCxnSpPr/>
          <p:nvPr/>
        </p:nvCxnSpPr>
        <p:spPr>
          <a:xfrm>
            <a:off x="1696224" y="3756631"/>
            <a:ext cx="21854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14F15FFA-09A0-493E-BD6B-A094ECBB0A03}"/>
              </a:ext>
            </a:extLst>
          </p:cNvPr>
          <p:cNvCxnSpPr>
            <a:cxnSpLocks/>
          </p:cNvCxnSpPr>
          <p:nvPr/>
        </p:nvCxnSpPr>
        <p:spPr>
          <a:xfrm>
            <a:off x="2232212" y="2770347"/>
            <a:ext cx="0" cy="219383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621094B8-1747-419C-92E9-5DE81D1DC07D}"/>
              </a:ext>
            </a:extLst>
          </p:cNvPr>
          <p:cNvCxnSpPr>
            <a:cxnSpLocks/>
          </p:cNvCxnSpPr>
          <p:nvPr/>
        </p:nvCxnSpPr>
        <p:spPr>
          <a:xfrm>
            <a:off x="2924265" y="2799460"/>
            <a:ext cx="0" cy="219383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78A015F0-B542-4380-94FF-857958673D60}"/>
              </a:ext>
            </a:extLst>
          </p:cNvPr>
          <p:cNvCxnSpPr>
            <a:cxnSpLocks/>
          </p:cNvCxnSpPr>
          <p:nvPr/>
        </p:nvCxnSpPr>
        <p:spPr>
          <a:xfrm>
            <a:off x="3469341" y="2770347"/>
            <a:ext cx="0" cy="219383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334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4E1544A-28B2-492B-9A86-E6C97E0BC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74" y="364995"/>
            <a:ext cx="4764741" cy="1325563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>
                <a:latin typeface="+mn-lt"/>
              </a:rPr>
              <a:t>2) STEPS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68C30E3-0074-418B-84D0-CB38A7CDA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156" y="265844"/>
            <a:ext cx="2713852" cy="1957365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610B311-AF7B-42B8-927A-6B4BF4F97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978" y="211709"/>
            <a:ext cx="2984014" cy="2273819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BF47C5F-7EFF-446C-9DEF-440447FB7B4E}"/>
              </a:ext>
            </a:extLst>
          </p:cNvPr>
          <p:cNvSpPr txBox="1"/>
          <p:nvPr/>
        </p:nvSpPr>
        <p:spPr>
          <a:xfrm>
            <a:off x="648150" y="4006833"/>
            <a:ext cx="54702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 err="1">
                <a:solidFill>
                  <a:schemeClr val="accent1"/>
                </a:solidFill>
              </a:rPr>
              <a:t>if</a:t>
            </a:r>
            <a:r>
              <a:rPr lang="es-ES" sz="2400" dirty="0">
                <a:solidFill>
                  <a:schemeClr val="accent1"/>
                </a:solidFill>
              </a:rPr>
              <a:t> (</a:t>
            </a:r>
            <a:r>
              <a:rPr lang="es-ES" sz="2400" dirty="0" err="1">
                <a:solidFill>
                  <a:schemeClr val="accent1"/>
                </a:solidFill>
              </a:rPr>
              <a:t>abs</a:t>
            </a:r>
            <a:r>
              <a:rPr lang="es-ES" sz="2400" dirty="0">
                <a:solidFill>
                  <a:schemeClr val="accent1"/>
                </a:solidFill>
              </a:rPr>
              <a:t>(</a:t>
            </a:r>
            <a:r>
              <a:rPr lang="es-ES" sz="2400" dirty="0" err="1">
                <a:solidFill>
                  <a:schemeClr val="accent1"/>
                </a:solidFill>
              </a:rPr>
              <a:t>sum_h+y</a:t>
            </a:r>
            <a:r>
              <a:rPr lang="es-ES" sz="2400" dirty="0">
                <a:solidFill>
                  <a:schemeClr val="accent1"/>
                </a:solidFill>
              </a:rPr>
              <a:t>)&gt;=</a:t>
            </a:r>
            <a:r>
              <a:rPr lang="es-ES" sz="2400" dirty="0" err="1">
                <a:solidFill>
                  <a:schemeClr val="accent1"/>
                </a:solidFill>
              </a:rPr>
              <a:t>delta_y</a:t>
            </a:r>
            <a:r>
              <a:rPr lang="es-ES" sz="2400" dirty="0">
                <a:solidFill>
                  <a:schemeClr val="accent1"/>
                </a:solidFill>
              </a:rPr>
              <a:t>):</a:t>
            </a:r>
          </a:p>
          <a:p>
            <a:r>
              <a:rPr lang="es-ES" dirty="0"/>
              <a:t>            </a:t>
            </a:r>
            <a:r>
              <a:rPr lang="es-ES" dirty="0" err="1"/>
              <a:t>current_index</a:t>
            </a:r>
            <a:r>
              <a:rPr lang="es-ES" dirty="0"/>
              <a:t>+=1 #We </a:t>
            </a:r>
            <a:r>
              <a:rPr lang="es-ES" dirty="0" err="1"/>
              <a:t>go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next</a:t>
            </a:r>
            <a:r>
              <a:rPr lang="es-ES" dirty="0"/>
              <a:t> </a:t>
            </a:r>
            <a:r>
              <a:rPr lang="es-ES" dirty="0" err="1"/>
              <a:t>grid</a:t>
            </a:r>
            <a:endParaRPr lang="es-ES" dirty="0"/>
          </a:p>
          <a:p>
            <a:r>
              <a:rPr lang="es-ES" dirty="0"/>
              <a:t>            #See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 </a:t>
            </a:r>
            <a:r>
              <a:rPr lang="es-ES" dirty="0" err="1"/>
              <a:t>refraction</a:t>
            </a:r>
            <a:r>
              <a:rPr lang="es-ES" dirty="0"/>
              <a:t> </a:t>
            </a:r>
            <a:r>
              <a:rPr lang="es-ES" dirty="0" err="1"/>
              <a:t>index</a:t>
            </a:r>
            <a:r>
              <a:rPr lang="es-ES" dirty="0"/>
              <a:t>:</a:t>
            </a:r>
          </a:p>
          <a:p>
            <a:r>
              <a:rPr lang="es-ES" dirty="0"/>
              <a:t>            </a:t>
            </a:r>
            <a:r>
              <a:rPr lang="es-ES" sz="2400" dirty="0" err="1">
                <a:solidFill>
                  <a:srgbClr val="FF0000"/>
                </a:solidFill>
              </a:rPr>
              <a:t>if</a:t>
            </a:r>
            <a:r>
              <a:rPr lang="es-ES" sz="2400" dirty="0">
                <a:solidFill>
                  <a:srgbClr val="FF0000"/>
                </a:solidFill>
              </a:rPr>
              <a:t> (n1==n0):</a:t>
            </a:r>
            <a:endParaRPr lang="es-ES" dirty="0"/>
          </a:p>
          <a:p>
            <a:r>
              <a:rPr lang="es-ES" dirty="0"/>
              <a:t>                </a:t>
            </a:r>
            <a:r>
              <a:rPr lang="es-ES" dirty="0" err="1"/>
              <a:t>sum_h</a:t>
            </a:r>
            <a:r>
              <a:rPr lang="es-ES" dirty="0"/>
              <a:t>+= y - </a:t>
            </a:r>
            <a:r>
              <a:rPr lang="es-ES" dirty="0" err="1"/>
              <a:t>delta_y</a:t>
            </a:r>
            <a:r>
              <a:rPr lang="es-ES" dirty="0"/>
              <a:t> #Goes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next</a:t>
            </a:r>
            <a:r>
              <a:rPr lang="es-ES" dirty="0"/>
              <a:t> </a:t>
            </a:r>
            <a:r>
              <a:rPr lang="es-ES" dirty="0" err="1"/>
              <a:t>cell</a:t>
            </a:r>
            <a:r>
              <a:rPr lang="es-ES" dirty="0"/>
              <a:t> normal</a:t>
            </a:r>
          </a:p>
          <a:p>
            <a:r>
              <a:rPr lang="es-ES" dirty="0"/>
              <a:t>                </a:t>
            </a:r>
            <a:r>
              <a:rPr lang="es-ES" dirty="0" err="1"/>
              <a:t>ray.append</a:t>
            </a:r>
            <a:r>
              <a:rPr lang="es-ES" dirty="0"/>
              <a:t>([</a:t>
            </a:r>
            <a:r>
              <a:rPr lang="es-ES" dirty="0" err="1"/>
              <a:t>ray</a:t>
            </a:r>
            <a:r>
              <a:rPr lang="es-ES" dirty="0"/>
              <a:t>[i-1][0]+</a:t>
            </a:r>
            <a:r>
              <a:rPr lang="es-ES" dirty="0" err="1"/>
              <a:t>x,ray</a:t>
            </a:r>
            <a:r>
              <a:rPr lang="es-ES" dirty="0"/>
              <a:t>[i-1][1]+y])</a:t>
            </a:r>
          </a:p>
          <a:p>
            <a:r>
              <a:rPr lang="es-ES" sz="2400" dirty="0">
                <a:solidFill>
                  <a:srgbClr val="00B050"/>
                </a:solidFill>
              </a:rPr>
              <a:t>         </a:t>
            </a:r>
            <a:r>
              <a:rPr lang="es-ES" sz="2400" dirty="0" err="1">
                <a:solidFill>
                  <a:srgbClr val="00B050"/>
                </a:solidFill>
              </a:rPr>
              <a:t>else</a:t>
            </a:r>
            <a:r>
              <a:rPr lang="es-ES" sz="2400" dirty="0">
                <a:solidFill>
                  <a:srgbClr val="00B050"/>
                </a:solidFill>
              </a:rPr>
              <a:t>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EE65CF7-76F7-4FFB-A153-5209E1BA32BA}"/>
              </a:ext>
            </a:extLst>
          </p:cNvPr>
          <p:cNvSpPr/>
          <p:nvPr/>
        </p:nvSpPr>
        <p:spPr>
          <a:xfrm>
            <a:off x="8122420" y="3987386"/>
            <a:ext cx="2240925" cy="1112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11AE528-AFD8-4F8E-AA80-FBB58E400011}"/>
              </a:ext>
            </a:extLst>
          </p:cNvPr>
          <p:cNvSpPr/>
          <p:nvPr/>
        </p:nvSpPr>
        <p:spPr>
          <a:xfrm>
            <a:off x="8122420" y="5106904"/>
            <a:ext cx="2240925" cy="1057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06C248D-8CCB-422F-ADD5-4185EFB0E6B9}"/>
              </a:ext>
            </a:extLst>
          </p:cNvPr>
          <p:cNvCxnSpPr>
            <a:cxnSpLocks/>
          </p:cNvCxnSpPr>
          <p:nvPr/>
        </p:nvCxnSpPr>
        <p:spPr>
          <a:xfrm flipV="1">
            <a:off x="10801636" y="5106904"/>
            <a:ext cx="0" cy="113296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B32D5E1C-A096-4419-93ED-98A6132D8AA7}"/>
                  </a:ext>
                </a:extLst>
              </p:cNvPr>
              <p:cNvSpPr txBox="1"/>
              <p:nvPr/>
            </p:nvSpPr>
            <p:spPr>
              <a:xfrm>
                <a:off x="10971406" y="5635839"/>
                <a:ext cx="4231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B32D5E1C-A096-4419-93ED-98A6132D8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1406" y="5635839"/>
                <a:ext cx="423188" cy="276999"/>
              </a:xfrm>
              <a:prstGeom prst="rect">
                <a:avLst/>
              </a:prstGeom>
              <a:blipFill>
                <a:blip r:embed="rId5"/>
                <a:stretch>
                  <a:fillRect l="-1449" r="-2899" b="-2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5E2F525-BDBC-47AC-B108-F656C80DAEDE}"/>
              </a:ext>
            </a:extLst>
          </p:cNvPr>
          <p:cNvCxnSpPr>
            <a:cxnSpLocks/>
          </p:cNvCxnSpPr>
          <p:nvPr/>
        </p:nvCxnSpPr>
        <p:spPr>
          <a:xfrm flipV="1">
            <a:off x="8274821" y="5411704"/>
            <a:ext cx="449214" cy="7530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C33EEA13-63B5-48A5-8894-F88526FC510A}"/>
              </a:ext>
            </a:extLst>
          </p:cNvPr>
          <p:cNvCxnSpPr>
            <a:cxnSpLocks/>
          </p:cNvCxnSpPr>
          <p:nvPr/>
        </p:nvCxnSpPr>
        <p:spPr>
          <a:xfrm flipV="1">
            <a:off x="8724035" y="4622356"/>
            <a:ext cx="438291" cy="789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65A82B69-A428-4452-91BA-E29DFAC366EA}"/>
              </a:ext>
            </a:extLst>
          </p:cNvPr>
          <p:cNvCxnSpPr>
            <a:cxnSpLocks/>
          </p:cNvCxnSpPr>
          <p:nvPr/>
        </p:nvCxnSpPr>
        <p:spPr>
          <a:xfrm flipV="1">
            <a:off x="8879196" y="4891752"/>
            <a:ext cx="455298" cy="20789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7BA7795-A582-49BF-B948-6F12EBE4A8BB}"/>
              </a:ext>
            </a:extLst>
          </p:cNvPr>
          <p:cNvCxnSpPr/>
          <p:nvPr/>
        </p:nvCxnSpPr>
        <p:spPr>
          <a:xfrm flipV="1">
            <a:off x="7746882" y="5411704"/>
            <a:ext cx="0" cy="75307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CD3A321-564D-4793-909C-05A3A43B61C3}"/>
              </a:ext>
            </a:extLst>
          </p:cNvPr>
          <p:cNvCxnSpPr/>
          <p:nvPr/>
        </p:nvCxnSpPr>
        <p:spPr>
          <a:xfrm>
            <a:off x="7746882" y="5411704"/>
            <a:ext cx="887506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9413264-2549-4D3A-A1DD-C22A47D0856A}"/>
              </a:ext>
            </a:extLst>
          </p:cNvPr>
          <p:cNvSpPr txBox="1"/>
          <p:nvPr/>
        </p:nvSpPr>
        <p:spPr>
          <a:xfrm>
            <a:off x="6411144" y="5603573"/>
            <a:ext cx="116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Sum_h</a:t>
            </a:r>
            <a:r>
              <a:rPr lang="es-ES" dirty="0"/>
              <a:t> 1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9B77D96-2D52-44C3-A75F-F7D8FBC8E155}"/>
              </a:ext>
            </a:extLst>
          </p:cNvPr>
          <p:cNvCxnSpPr>
            <a:cxnSpLocks/>
          </p:cNvCxnSpPr>
          <p:nvPr/>
        </p:nvCxnSpPr>
        <p:spPr>
          <a:xfrm flipH="1">
            <a:off x="7746882" y="4622356"/>
            <a:ext cx="1415444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FD4F74AE-C4D5-4926-8BA8-B7BA098DA0CD}"/>
              </a:ext>
            </a:extLst>
          </p:cNvPr>
          <p:cNvCxnSpPr>
            <a:cxnSpLocks/>
          </p:cNvCxnSpPr>
          <p:nvPr/>
        </p:nvCxnSpPr>
        <p:spPr>
          <a:xfrm flipV="1">
            <a:off x="7746882" y="4619162"/>
            <a:ext cx="0" cy="487742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AB60D4D-99B5-4132-8E12-044B216ED892}"/>
              </a:ext>
            </a:extLst>
          </p:cNvPr>
          <p:cNvSpPr txBox="1"/>
          <p:nvPr/>
        </p:nvSpPr>
        <p:spPr>
          <a:xfrm>
            <a:off x="6358157" y="4678367"/>
            <a:ext cx="116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Sum_h</a:t>
            </a:r>
            <a:r>
              <a:rPr lang="es-ES" dirty="0"/>
              <a:t> 2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DFD80021-B48F-42D3-9C59-A79C2DFFEF2A}"/>
              </a:ext>
            </a:extLst>
          </p:cNvPr>
          <p:cNvCxnSpPr/>
          <p:nvPr/>
        </p:nvCxnSpPr>
        <p:spPr>
          <a:xfrm>
            <a:off x="9334494" y="4891752"/>
            <a:ext cx="1467142" cy="0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A16EB9F6-DBDC-40C6-85DA-DA6242B918A6}"/>
              </a:ext>
            </a:extLst>
          </p:cNvPr>
          <p:cNvCxnSpPr/>
          <p:nvPr/>
        </p:nvCxnSpPr>
        <p:spPr>
          <a:xfrm>
            <a:off x="10801636" y="4891752"/>
            <a:ext cx="0" cy="20789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185837A-5DC3-4778-B12A-C9472099C741}"/>
              </a:ext>
            </a:extLst>
          </p:cNvPr>
          <p:cNvSpPr txBox="1"/>
          <p:nvPr/>
        </p:nvSpPr>
        <p:spPr>
          <a:xfrm>
            <a:off x="10801636" y="4811032"/>
            <a:ext cx="116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Sum_h</a:t>
            </a:r>
            <a:r>
              <a:rPr lang="es-ES" dirty="0"/>
              <a:t> 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FE7EE62-FCD5-4C98-B19C-1E6D9950DF97}"/>
              </a:ext>
            </a:extLst>
          </p:cNvPr>
          <p:cNvSpPr txBox="1"/>
          <p:nvPr/>
        </p:nvSpPr>
        <p:spPr>
          <a:xfrm>
            <a:off x="2341020" y="2187787"/>
            <a:ext cx="338865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ES" dirty="0"/>
              <a:t>x0=</a:t>
            </a:r>
            <a:r>
              <a:rPr lang="es-ES" dirty="0" err="1"/>
              <a:t>step_t</a:t>
            </a:r>
            <a:r>
              <a:rPr lang="es-ES" dirty="0"/>
              <a:t>*(c/n0)*</a:t>
            </a:r>
            <a:r>
              <a:rPr lang="es-ES" dirty="0" err="1"/>
              <a:t>np.cos</a:t>
            </a:r>
            <a:r>
              <a:rPr lang="es-ES" dirty="0"/>
              <a:t>(theta0)</a:t>
            </a:r>
          </a:p>
          <a:p>
            <a:r>
              <a:rPr lang="es-ES" dirty="0"/>
              <a:t>y0=</a:t>
            </a:r>
            <a:r>
              <a:rPr lang="es-ES" dirty="0" err="1"/>
              <a:t>step_t</a:t>
            </a:r>
            <a:r>
              <a:rPr lang="es-ES" dirty="0"/>
              <a:t>*(c/n0)*</a:t>
            </a:r>
            <a:r>
              <a:rPr lang="es-ES" dirty="0" err="1"/>
              <a:t>np.sin</a:t>
            </a:r>
            <a:r>
              <a:rPr lang="es-ES" dirty="0"/>
              <a:t>(theta0)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AF0609D-C580-4260-9849-1F98CD50D45D}"/>
              </a:ext>
            </a:extLst>
          </p:cNvPr>
          <p:cNvSpPr txBox="1"/>
          <p:nvPr/>
        </p:nvSpPr>
        <p:spPr>
          <a:xfrm>
            <a:off x="775724" y="3086424"/>
            <a:ext cx="393550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ES" dirty="0"/>
              <a:t>x = x0 * </a:t>
            </a:r>
            <a:r>
              <a:rPr lang="es-ES" dirty="0" err="1"/>
              <a:t>np.cos</a:t>
            </a:r>
            <a:r>
              <a:rPr lang="es-ES" dirty="0"/>
              <a:t>(ubre) - y0*</a:t>
            </a:r>
            <a:r>
              <a:rPr lang="es-ES" dirty="0" err="1"/>
              <a:t>np.sin</a:t>
            </a:r>
            <a:r>
              <a:rPr lang="es-ES" dirty="0"/>
              <a:t>(ubre)</a:t>
            </a:r>
          </a:p>
          <a:p>
            <a:r>
              <a:rPr lang="es-ES" dirty="0"/>
              <a:t>y = x0 * </a:t>
            </a:r>
            <a:r>
              <a:rPr lang="es-ES" dirty="0" err="1"/>
              <a:t>np.sin</a:t>
            </a:r>
            <a:r>
              <a:rPr lang="es-ES" dirty="0"/>
              <a:t>(ubre) + y0*</a:t>
            </a:r>
            <a:r>
              <a:rPr lang="es-ES" dirty="0" err="1"/>
              <a:t>np.cos</a:t>
            </a:r>
            <a:r>
              <a:rPr lang="es-ES" dirty="0"/>
              <a:t>(ubre)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5737666-9E96-4DBA-92DF-AA5E8BEA3166}"/>
              </a:ext>
            </a:extLst>
          </p:cNvPr>
          <p:cNvSpPr txBox="1"/>
          <p:nvPr/>
        </p:nvSpPr>
        <p:spPr>
          <a:xfrm>
            <a:off x="420494" y="2227572"/>
            <a:ext cx="16090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u="sng" dirty="0"/>
              <a:t>Plane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632FCB7-9CAF-4D27-B692-19C919D58C88}"/>
              </a:ext>
            </a:extLst>
          </p:cNvPr>
          <p:cNvSpPr txBox="1"/>
          <p:nvPr/>
        </p:nvSpPr>
        <p:spPr>
          <a:xfrm>
            <a:off x="5051916" y="3128088"/>
            <a:ext cx="1306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u="sng" dirty="0" err="1"/>
              <a:t>Circle</a:t>
            </a:r>
            <a:endParaRPr lang="es-ES" sz="3200" u="sng" dirty="0"/>
          </a:p>
        </p:txBody>
      </p:sp>
    </p:spTree>
    <p:extLst>
      <p:ext uri="{BB962C8B-B14F-4D97-AF65-F5344CB8AC3E}">
        <p14:creationId xmlns:p14="http://schemas.microsoft.com/office/powerpoint/2010/main" val="403485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553" y="141007"/>
            <a:ext cx="10515600" cy="1033369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>
                <a:latin typeface="+mn-lt"/>
              </a:rPr>
              <a:t>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660D32A3-81BD-4BB4-A99E-E4CF2DBE7734}"/>
                  </a:ext>
                </a:extLst>
              </p:cNvPr>
              <p:cNvSpPr/>
              <p:nvPr/>
            </p:nvSpPr>
            <p:spPr>
              <a:xfrm>
                <a:off x="425823" y="1313346"/>
                <a:ext cx="645459" cy="4930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660D32A3-81BD-4BB4-A99E-E4CF2DBE77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23" y="1313346"/>
                <a:ext cx="645459" cy="493059"/>
              </a:xfrm>
              <a:prstGeom prst="rect">
                <a:avLst/>
              </a:prstGeom>
              <a:blipFill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E3ABD750-7D59-4D51-9323-7CF7C14C3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965" y="1882588"/>
            <a:ext cx="5802465" cy="412376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6685733-8C75-4E5C-AF08-01A7482DDA39}"/>
              </a:ext>
            </a:extLst>
          </p:cNvPr>
          <p:cNvSpPr txBox="1"/>
          <p:nvPr/>
        </p:nvSpPr>
        <p:spPr>
          <a:xfrm>
            <a:off x="995083" y="2049069"/>
            <a:ext cx="3415553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200" dirty="0" err="1"/>
              <a:t>Choose</a:t>
            </a:r>
            <a:r>
              <a:rPr lang="es-ES" sz="3200" dirty="0"/>
              <a:t> </a:t>
            </a:r>
            <a:r>
              <a:rPr lang="es-ES" sz="3200" u="sng" dirty="0" err="1"/>
              <a:t>electron</a:t>
            </a:r>
            <a:r>
              <a:rPr lang="es-ES" sz="3200" u="sng" dirty="0"/>
              <a:t> </a:t>
            </a:r>
            <a:r>
              <a:rPr lang="es-ES" sz="3200" u="sng" dirty="0" err="1"/>
              <a:t>density</a:t>
            </a:r>
            <a:endParaRPr lang="es-ES" sz="3200" u="sng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380719B-22A1-494D-BC27-B1687C2EB331}"/>
              </a:ext>
            </a:extLst>
          </p:cNvPr>
          <p:cNvSpPr txBox="1"/>
          <p:nvPr/>
        </p:nvSpPr>
        <p:spPr>
          <a:xfrm>
            <a:off x="923365" y="4799456"/>
            <a:ext cx="3415553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200" dirty="0"/>
              <a:t>Define </a:t>
            </a:r>
            <a:r>
              <a:rPr lang="es-ES" sz="3200" u="sng" dirty="0" err="1"/>
              <a:t>refraction</a:t>
            </a:r>
            <a:r>
              <a:rPr lang="es-ES" sz="3200" u="sng" dirty="0"/>
              <a:t> </a:t>
            </a:r>
            <a:r>
              <a:rPr lang="es-ES" sz="3200" u="sng" dirty="0" err="1"/>
              <a:t>index</a:t>
            </a:r>
            <a:endParaRPr lang="es-ES" sz="3200" u="sng" dirty="0"/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F27CB45E-5564-48E5-AC12-478925C13C6B}"/>
              </a:ext>
            </a:extLst>
          </p:cNvPr>
          <p:cNvSpPr/>
          <p:nvPr/>
        </p:nvSpPr>
        <p:spPr>
          <a:xfrm>
            <a:off x="2301688" y="3386880"/>
            <a:ext cx="802341" cy="11609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6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27" y="41674"/>
            <a:ext cx="4782671" cy="997509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>
                <a:latin typeface="+mn-lt"/>
              </a:rPr>
              <a:t>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660D32A3-81BD-4BB4-A99E-E4CF2DBE7734}"/>
                  </a:ext>
                </a:extLst>
              </p:cNvPr>
              <p:cNvSpPr/>
              <p:nvPr/>
            </p:nvSpPr>
            <p:spPr>
              <a:xfrm>
                <a:off x="4935883" y="2789617"/>
                <a:ext cx="862815" cy="58477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𝑛𝑑</m:t>
                          </m:r>
                        </m:sup>
                      </m:sSup>
                    </m:oMath>
                  </m:oMathPara>
                </a14:m>
                <a:endParaRPr lang="es-ES" sz="3600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660D32A3-81BD-4BB4-A99E-E4CF2DBE77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883" y="2789617"/>
                <a:ext cx="862815" cy="5847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790693B7-6D9B-4E8D-B701-7D778A0438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56" t="32419" r="8456" b="16340"/>
          <a:stretch/>
        </p:blipFill>
        <p:spPr>
          <a:xfrm>
            <a:off x="152400" y="926974"/>
            <a:ext cx="3697418" cy="1565214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25760F1-A798-4B3C-A7EE-344ACE3F09AA}"/>
              </a:ext>
            </a:extLst>
          </p:cNvPr>
          <p:cNvCxnSpPr>
            <a:cxnSpLocks/>
          </p:cNvCxnSpPr>
          <p:nvPr/>
        </p:nvCxnSpPr>
        <p:spPr>
          <a:xfrm>
            <a:off x="4007224" y="2429435"/>
            <a:ext cx="788894" cy="4303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A038331D-899C-4EE0-8A8D-F8C5A68EF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408" y="3668404"/>
            <a:ext cx="5047919" cy="298493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043AA37-F5B6-4906-A7E4-206D6DC0A4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76" y="3721272"/>
            <a:ext cx="4714985" cy="288528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35A8523-B30A-41D6-81BA-C4651EDD17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199" y="75853"/>
            <a:ext cx="4895088" cy="3163824"/>
          </a:xfrm>
          <a:prstGeom prst="rect">
            <a:avLst/>
          </a:prstGeom>
        </p:spPr>
      </p:pic>
      <p:sp>
        <p:nvSpPr>
          <p:cNvPr id="18" name="Flecha: a la izquierda y derecha 17">
            <a:extLst>
              <a:ext uri="{FF2B5EF4-FFF2-40B4-BE49-F238E27FC236}">
                <a16:creationId xmlns:a16="http://schemas.microsoft.com/office/drawing/2014/main" id="{BC469FCB-6B5E-4340-B311-A80C9F6E057B}"/>
              </a:ext>
            </a:extLst>
          </p:cNvPr>
          <p:cNvSpPr/>
          <p:nvPr/>
        </p:nvSpPr>
        <p:spPr>
          <a:xfrm>
            <a:off x="4998112" y="5102987"/>
            <a:ext cx="1272989" cy="26894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BE9E437-1BF8-41E3-B4B9-3B06346D617D}"/>
              </a:ext>
            </a:extLst>
          </p:cNvPr>
          <p:cNvSpPr txBox="1"/>
          <p:nvPr/>
        </p:nvSpPr>
        <p:spPr>
          <a:xfrm>
            <a:off x="4958060" y="4518212"/>
            <a:ext cx="1353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u="sng" dirty="0"/>
              <a:t>POLAR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2DF258C-CCAA-466B-A8FC-6C63C8E55100}"/>
              </a:ext>
            </a:extLst>
          </p:cNvPr>
          <p:cNvSpPr txBox="1"/>
          <p:nvPr/>
        </p:nvSpPr>
        <p:spPr>
          <a:xfrm>
            <a:off x="10771559" y="1365377"/>
            <a:ext cx="1407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u="sng" dirty="0"/>
              <a:t>PLANE</a:t>
            </a:r>
          </a:p>
        </p:txBody>
      </p:sp>
    </p:spTree>
    <p:extLst>
      <p:ext uri="{BB962C8B-B14F-4D97-AF65-F5344CB8AC3E}">
        <p14:creationId xmlns:p14="http://schemas.microsoft.com/office/powerpoint/2010/main" val="1855902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0329" y="0"/>
            <a:ext cx="3402106" cy="827181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>
                <a:latin typeface="+mn-lt"/>
              </a:rPr>
              <a:t>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660D32A3-81BD-4BB4-A99E-E4CF2DBE7734}"/>
                  </a:ext>
                </a:extLst>
              </p:cNvPr>
              <p:cNvSpPr/>
              <p:nvPr/>
            </p:nvSpPr>
            <p:spPr>
              <a:xfrm>
                <a:off x="713395" y="2551331"/>
                <a:ext cx="963706" cy="76993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4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s-ES" sz="4800" b="0" i="1" smtClean="0"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p>
                    </m:oMath>
                  </m:oMathPara>
                </a14:m>
                <a:endParaRPr lang="es-ES" sz="4800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660D32A3-81BD-4BB4-A99E-E4CF2DBE77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95" y="2551331"/>
                <a:ext cx="963706" cy="7699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7B01EAC3-E8D1-4D51-9996-3A2F4635FC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33" t="20262" r="8015" b="10981"/>
          <a:stretch/>
        </p:blipFill>
        <p:spPr>
          <a:xfrm>
            <a:off x="457200" y="141007"/>
            <a:ext cx="3370729" cy="186632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B08F76B-6A83-4F22-A095-56E3D7FA0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91" y="826837"/>
            <a:ext cx="5459506" cy="348782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2E0BB2-29EE-40B8-B79E-758B96851844}"/>
              </a:ext>
            </a:extLst>
          </p:cNvPr>
          <p:cNvSpPr txBox="1"/>
          <p:nvPr/>
        </p:nvSpPr>
        <p:spPr>
          <a:xfrm>
            <a:off x="2061181" y="2736494"/>
            <a:ext cx="3218329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3200" dirty="0" err="1"/>
              <a:t>Getting</a:t>
            </a:r>
            <a:r>
              <a:rPr lang="es-ES" sz="3200" dirty="0"/>
              <a:t> </a:t>
            </a:r>
            <a:r>
              <a:rPr lang="es-ES" sz="3200" u="sng" dirty="0"/>
              <a:t>ANDRÉS</a:t>
            </a:r>
            <a:endParaRPr lang="es-ES" sz="32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106510B-576A-4A82-8E19-44B508FBDC35}"/>
              </a:ext>
            </a:extLst>
          </p:cNvPr>
          <p:cNvCxnSpPr>
            <a:cxnSpLocks/>
          </p:cNvCxnSpPr>
          <p:nvPr/>
        </p:nvCxnSpPr>
        <p:spPr>
          <a:xfrm>
            <a:off x="5360894" y="3062984"/>
            <a:ext cx="98611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B78B5F32-B172-401D-A7C5-5C043B5F8E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87" y="4118230"/>
            <a:ext cx="6715615" cy="25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828"/>
            <a:ext cx="10515600" cy="943722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>
                <a:latin typeface="+mn-lt"/>
              </a:rPr>
              <a:t>APPLICATIONS</a:t>
            </a:r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9A180C52-FDA1-4C38-87B2-B5D56D8EE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189908"/>
              </p:ext>
            </p:extLst>
          </p:nvPr>
        </p:nvGraphicFramePr>
        <p:xfrm>
          <a:off x="1843741" y="1643030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50350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74479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4703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FREQUENCY [Hz]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ANGLE [</a:t>
                      </a:r>
                      <a:r>
                        <a:rPr lang="es-ES" dirty="0" err="1"/>
                        <a:t>Degrees</a:t>
                      </a:r>
                      <a:r>
                        <a:rPr lang="es-ES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DISTANCE [Km]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14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3E6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 137.1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2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 8E6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137.1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168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1.5E7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152.9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210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221.2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979645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13F12BB-4024-4BDA-8123-8A7BCB14C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927883"/>
              </p:ext>
            </p:extLst>
          </p:nvPr>
        </p:nvGraphicFramePr>
        <p:xfrm>
          <a:off x="1843741" y="4027643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50350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74479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4703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FREQUENCY [Hz]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ANGLE [</a:t>
                      </a:r>
                      <a:r>
                        <a:rPr lang="es-ES" dirty="0" err="1"/>
                        <a:t>Degrees</a:t>
                      </a:r>
                      <a:r>
                        <a:rPr lang="es-ES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DISTANCE [Km]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14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 1879.3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2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 2E7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482.6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168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235.6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210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221.2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979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07904"/>
                  </a:ext>
                </a:extLst>
              </a:tr>
            </a:tbl>
          </a:graphicData>
        </a:graphic>
      </p:graphicFrame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4613CB35-74C3-4AA4-841A-443EFDE9393E}"/>
              </a:ext>
            </a:extLst>
          </p:cNvPr>
          <p:cNvSpPr/>
          <p:nvPr/>
        </p:nvSpPr>
        <p:spPr>
          <a:xfrm>
            <a:off x="9654988" y="296828"/>
            <a:ext cx="1410445" cy="815789"/>
          </a:xfrm>
          <a:prstGeom prst="triangle">
            <a:avLst>
              <a:gd name="adj" fmla="val 5127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dirty="0"/>
              <a:t>1</a:t>
            </a:r>
            <a:endParaRPr lang="es-ES" sz="5400" dirty="0"/>
          </a:p>
        </p:txBody>
      </p:sp>
    </p:spTree>
    <p:extLst>
      <p:ext uri="{BB962C8B-B14F-4D97-AF65-F5344CB8AC3E}">
        <p14:creationId xmlns:p14="http://schemas.microsoft.com/office/powerpoint/2010/main" val="3004610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58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>
                <a:latin typeface="+mn-lt"/>
              </a:rPr>
              <a:t>APPLICATIONS</a:t>
            </a:r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E0804EFA-104A-4852-B96E-2849DF579208}"/>
              </a:ext>
            </a:extLst>
          </p:cNvPr>
          <p:cNvSpPr/>
          <p:nvPr/>
        </p:nvSpPr>
        <p:spPr>
          <a:xfrm>
            <a:off x="9846235" y="365125"/>
            <a:ext cx="1410445" cy="941294"/>
          </a:xfrm>
          <a:prstGeom prst="triangle">
            <a:avLst>
              <a:gd name="adj" fmla="val 491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dirty="0"/>
              <a:t>2</a:t>
            </a:r>
            <a:endParaRPr lang="es-ES" sz="5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D039B56-E41C-40BD-B1CE-AEBC0F165240}"/>
              </a:ext>
            </a:extLst>
          </p:cNvPr>
          <p:cNvSpPr txBox="1"/>
          <p:nvPr/>
        </p:nvSpPr>
        <p:spPr>
          <a:xfrm>
            <a:off x="4424082" y="5782236"/>
            <a:ext cx="33438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 err="1"/>
              <a:t>Perturbation</a:t>
            </a:r>
            <a:r>
              <a:rPr lang="es-ES" sz="2800" dirty="0"/>
              <a:t> </a:t>
            </a:r>
            <a:r>
              <a:rPr lang="es-ES" sz="2800" dirty="0" err="1"/>
              <a:t>from</a:t>
            </a:r>
            <a:r>
              <a:rPr lang="es-ES" sz="2800" dirty="0"/>
              <a:t> 100 </a:t>
            </a:r>
            <a:r>
              <a:rPr lang="es-ES" sz="2800" dirty="0" err="1"/>
              <a:t>to</a:t>
            </a:r>
            <a:r>
              <a:rPr lang="es-ES" sz="2800" dirty="0"/>
              <a:t> 180 km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1522EF3-6CA3-4414-B4B3-FD2B4C479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5" y="2312512"/>
            <a:ext cx="5133121" cy="329939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2BEC242-9C5D-4950-9372-B6C98A09A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613" y="2317219"/>
            <a:ext cx="5133122" cy="3294687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5276C93-0F53-4BAE-95B2-640D7CAEFE40}"/>
              </a:ext>
            </a:extLst>
          </p:cNvPr>
          <p:cNvSpPr txBox="1"/>
          <p:nvPr/>
        </p:nvSpPr>
        <p:spPr>
          <a:xfrm>
            <a:off x="1451491" y="1650942"/>
            <a:ext cx="2644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u="sng" dirty="0"/>
              <a:t>Linear</a:t>
            </a:r>
            <a:r>
              <a:rPr lang="es-ES" sz="3200" dirty="0"/>
              <a:t> Day</a:t>
            </a:r>
            <a:endParaRPr lang="es-ES" sz="3200" u="sng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4CE71C1-F5F4-4317-8C2B-A23AE9471D4A}"/>
              </a:ext>
            </a:extLst>
          </p:cNvPr>
          <p:cNvSpPr txBox="1"/>
          <p:nvPr/>
        </p:nvSpPr>
        <p:spPr>
          <a:xfrm>
            <a:off x="7906869" y="1650942"/>
            <a:ext cx="2644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u="sng" dirty="0" err="1"/>
              <a:t>Quadratic</a:t>
            </a:r>
            <a:r>
              <a:rPr lang="es-ES" sz="3200" dirty="0"/>
              <a:t> Day</a:t>
            </a:r>
            <a:endParaRPr lang="es-ES" sz="3200" u="sng" dirty="0"/>
          </a:p>
        </p:txBody>
      </p:sp>
    </p:spTree>
    <p:extLst>
      <p:ext uri="{BB962C8B-B14F-4D97-AF65-F5344CB8AC3E}">
        <p14:creationId xmlns:p14="http://schemas.microsoft.com/office/powerpoint/2010/main" val="3842487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CDCB-5D70-42F0-9D3E-9C763048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17" y="257548"/>
            <a:ext cx="11183471" cy="1822263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>
                <a:latin typeface="+mn-lt"/>
              </a:rPr>
              <a:t>CONCLUSIONS AND FUTURE WORK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4842FA-933F-4A04-959E-C7856937B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" y="2324099"/>
            <a:ext cx="5745476" cy="267820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F1C5816-51DD-4E00-B578-A4F09A8CC2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875" t="41985" r="34582" b="53726"/>
          <a:stretch/>
        </p:blipFill>
        <p:spPr>
          <a:xfrm>
            <a:off x="7106884" y="3209924"/>
            <a:ext cx="4713080" cy="90655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DD179BB-CD78-4496-95FF-0C28A106EE12}"/>
              </a:ext>
            </a:extLst>
          </p:cNvPr>
          <p:cNvSpPr txBox="1"/>
          <p:nvPr/>
        </p:nvSpPr>
        <p:spPr>
          <a:xfrm>
            <a:off x="1013012" y="5414683"/>
            <a:ext cx="3854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u="sng" dirty="0" err="1"/>
              <a:t>Multiple</a:t>
            </a:r>
            <a:r>
              <a:rPr lang="es-ES" sz="2000" dirty="0"/>
              <a:t> </a:t>
            </a:r>
            <a:r>
              <a:rPr lang="es-ES" sz="2000" dirty="0" err="1"/>
              <a:t>transmisions</a:t>
            </a:r>
            <a:r>
              <a:rPr lang="es-ES" sz="2000" dirty="0"/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E1D20EB-16BF-48E1-BD8C-2E035A05EB84}"/>
              </a:ext>
            </a:extLst>
          </p:cNvPr>
          <p:cNvSpPr txBox="1"/>
          <p:nvPr/>
        </p:nvSpPr>
        <p:spPr>
          <a:xfrm>
            <a:off x="7324166" y="5414683"/>
            <a:ext cx="4338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u="sng" dirty="0" err="1"/>
              <a:t>Directly</a:t>
            </a:r>
            <a:r>
              <a:rPr lang="es-ES" sz="2800" u="sng" dirty="0"/>
              <a:t> </a:t>
            </a:r>
            <a:r>
              <a:rPr lang="es-ES" sz="2800" u="sng" dirty="0" err="1"/>
              <a:t>solve</a:t>
            </a:r>
            <a:r>
              <a:rPr lang="es-ES" sz="2800" dirty="0"/>
              <a:t> </a:t>
            </a:r>
            <a:r>
              <a:rPr lang="es-ES" sz="2000" dirty="0" err="1"/>
              <a:t>Fermat’s</a:t>
            </a:r>
            <a:r>
              <a:rPr lang="es-ES" sz="2000" dirty="0"/>
              <a:t> </a:t>
            </a:r>
            <a:r>
              <a:rPr lang="es-ES" sz="2000" dirty="0" err="1"/>
              <a:t>principle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628213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55320E41-510E-4D49-9B1B-939930A7D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" y="-91189"/>
            <a:ext cx="7077854" cy="7052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077E50-1A45-4EB4-977C-E5F1CABFD8A5}"/>
              </a:ext>
            </a:extLst>
          </p:cNvPr>
          <p:cNvSpPr txBox="1"/>
          <p:nvPr/>
        </p:nvSpPr>
        <p:spPr>
          <a:xfrm>
            <a:off x="7035384" y="2775679"/>
            <a:ext cx="515411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 dirty="0">
                <a:cs typeface="Calibri"/>
              </a:rPr>
              <a:t>QUESTIONS</a:t>
            </a:r>
            <a:r>
              <a:rPr lang="en-US" sz="8000" b="1" dirty="0">
                <a:cs typeface="Calibri"/>
              </a:rPr>
              <a:t>?</a:t>
            </a:r>
            <a:endParaRPr lang="en-US" sz="8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74298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3063</TotalTime>
  <Words>343</Words>
  <Application>Microsoft Office PowerPoint</Application>
  <PresentationFormat>Widescreen</PresentationFormat>
  <Paragraphs>107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Tema de Office</vt:lpstr>
      <vt:lpstr>PowerPoint Presentation</vt:lpstr>
      <vt:lpstr>PowerPoint Presentation</vt:lpstr>
      <vt:lpstr>INTRODUCTION</vt:lpstr>
      <vt:lpstr>THEORETICAL FRAMEWORK</vt:lpstr>
      <vt:lpstr>THEORETICAL FRAMEWORK</vt:lpstr>
      <vt:lpstr>CODE &amp; IMPLEMENTATION</vt:lpstr>
      <vt:lpstr>1) GEOMETRY</vt:lpstr>
      <vt:lpstr>2) STEPS</vt:lpstr>
      <vt:lpstr>PROCESS</vt:lpstr>
      <vt:lpstr>PROCESS</vt:lpstr>
      <vt:lpstr>PROCESS</vt:lpstr>
      <vt:lpstr>APPLICATIONS</vt:lpstr>
      <vt:lpstr>APPLICATIONS</vt:lpstr>
      <vt:lpstr>CONCLUSIONS AND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 Cobo Zarzuelo</dc:creator>
  <cp:lastModifiedBy>Alex Cobo Zarzuelo</cp:lastModifiedBy>
  <cp:revision>110</cp:revision>
  <dcterms:created xsi:type="dcterms:W3CDTF">2022-02-20T02:02:07Z</dcterms:created>
  <dcterms:modified xsi:type="dcterms:W3CDTF">2022-02-22T17:47:52Z</dcterms:modified>
</cp:coreProperties>
</file>